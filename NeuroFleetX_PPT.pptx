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2"/>
    </p:embeddedFont>
    <p:embeddedFont>
      <p:font typeface="Montserra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6780" y="904875"/>
            <a:ext cx="10740408" cy="30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7"/>
              </a:lnSpc>
              <a:spcBef>
                <a:spcPct val="0"/>
              </a:spcBef>
            </a:pPr>
            <a:r>
              <a:rPr lang="en-US" sz="586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NeuroFleetX</a:t>
            </a:r>
            <a:r>
              <a:rPr lang="en-US" sz="586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AI-Driven Urban Mobility Optimization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6780" y="7902149"/>
            <a:ext cx="8186491" cy="5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Presentated by - Vaishnavi Ambhore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689117" y="5279415"/>
            <a:ext cx="13906305" cy="11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9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Transforming Urban Transport </a:t>
            </a:r>
          </a:p>
          <a:p>
            <a:pPr algn="ctr">
              <a:lnSpc>
                <a:spcPts val="4459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Artificial Intelligence</a:t>
            </a:r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A481A112-4DF0-3F0C-11C6-DFECF6FEBFC5}"/>
              </a:ext>
            </a:extLst>
          </p:cNvPr>
          <p:cNvGrpSpPr/>
          <p:nvPr/>
        </p:nvGrpSpPr>
        <p:grpSpPr>
          <a:xfrm>
            <a:off x="15568171" y="3563350"/>
            <a:ext cx="1578921" cy="1578921"/>
            <a:chOff x="0" y="0"/>
            <a:chExt cx="812800" cy="8128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596E4A27-5D25-AB88-2510-8F8D302F0E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D641493B-E88F-EB8B-CC67-EEB0C4301F5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97B9FE76-F3B6-7716-856A-F82215F6CAEE}"/>
              </a:ext>
            </a:extLst>
          </p:cNvPr>
          <p:cNvGrpSpPr/>
          <p:nvPr/>
        </p:nvGrpSpPr>
        <p:grpSpPr>
          <a:xfrm>
            <a:off x="11813758" y="4489954"/>
            <a:ext cx="1578921" cy="1578921"/>
            <a:chOff x="0" y="0"/>
            <a:chExt cx="812800" cy="812800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302EF6D-D1DD-1AEE-29B8-E1A9DC1B9E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24ECBE88-38DA-788F-92EB-672EAA5883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26" name="Picture 2" descr="The Importance of Technology: #5 is a Must-Know!">
            <a:extLst>
              <a:ext uri="{FF2B5EF4-FFF2-40B4-BE49-F238E27FC236}">
                <a16:creationId xmlns:a16="http://schemas.microsoft.com/office/drawing/2014/main" id="{534DBB52-BCCD-B8D5-24E5-CF49203EC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20541"/>
            <a:ext cx="8077200" cy="1026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09124" y="1741011"/>
            <a:ext cx="8397219" cy="124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2696" y="3668474"/>
            <a:ext cx="16444814" cy="579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NeuroFleetX is an intelligent, AI-based platform designed to transform urban mobility using real-time data and advanced analytics.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The system enhances transportation efficiency by providing smart traffic insights and dynamic route optimization.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It assists fleet operators and city authorities by predicting traffic congestion, automating fleet operations, and improving overall mobility management.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The goal is to create a safe, seamless, and environmentally sustainable transportation ecosystem for both commuters and urban communities.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62589" y="795716"/>
            <a:ext cx="10265287" cy="111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 rot="7573183">
            <a:off x="3484139" y="2665386"/>
            <a:ext cx="294287" cy="29428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28325" y="2559251"/>
            <a:ext cx="14812759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Rapid urban expansion has led to major challenges in city transportation systems.These include heavy traffic congestion, inefficient utilization of fleets,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unpredictable travel durations, and limited visibility into vehicle performance and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maintenance status.</a:t>
            </a:r>
          </a:p>
        </p:txBody>
      </p:sp>
      <p:grpSp>
        <p:nvGrpSpPr>
          <p:cNvPr id="8" name="Group 8"/>
          <p:cNvGrpSpPr/>
          <p:nvPr/>
        </p:nvGrpSpPr>
        <p:grpSpPr>
          <a:xfrm rot="7573183">
            <a:off x="3536419" y="5018161"/>
            <a:ext cx="250678" cy="2506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28325" y="4943905"/>
            <a:ext cx="13818675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 the absence of AI-driven intelligence, fleet operations often suffer from increased fuel consumption, service delays, higher maintenance costs, and reduced customer satisfaction.</a:t>
            </a:r>
          </a:p>
        </p:txBody>
      </p:sp>
      <p:grpSp>
        <p:nvGrpSpPr>
          <p:cNvPr id="12" name="Group 12"/>
          <p:cNvGrpSpPr/>
          <p:nvPr/>
        </p:nvGrpSpPr>
        <p:grpSpPr>
          <a:xfrm rot="7573183">
            <a:off x="3536419" y="7321143"/>
            <a:ext cx="250678" cy="25067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28325" y="7155280"/>
            <a:ext cx="13921052" cy="181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These challenges emphasize the need for a unified smart mobility solution capable of optimizing routes, monitoring vehicle health in real time, automating booking processes, and improving overall operational efficiency.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36CAB802-F7FB-6BC8-0F4E-45E3496BD729}"/>
              </a:ext>
            </a:extLst>
          </p:cNvPr>
          <p:cNvGrpSpPr/>
          <p:nvPr/>
        </p:nvGrpSpPr>
        <p:grpSpPr>
          <a:xfrm>
            <a:off x="1841791" y="1909333"/>
            <a:ext cx="1053809" cy="736104"/>
            <a:chOff x="0" y="0"/>
            <a:chExt cx="812800" cy="8128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F61E943-9EA9-8810-8E9F-9F374F2B0F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2E382E13-5457-E0F7-1150-DDB0A55345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F25C282C-B0E4-B1C5-1A89-CC2178616081}"/>
              </a:ext>
            </a:extLst>
          </p:cNvPr>
          <p:cNvGrpSpPr/>
          <p:nvPr/>
        </p:nvGrpSpPr>
        <p:grpSpPr>
          <a:xfrm>
            <a:off x="468470" y="565907"/>
            <a:ext cx="1578921" cy="1578921"/>
            <a:chOff x="0" y="0"/>
            <a:chExt cx="812800" cy="8128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B8B92CD8-64EB-9F63-3F0E-C9785A483A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FABC369A-2F6F-E393-4269-66227C7DB9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6793" y="5143500"/>
            <a:ext cx="1156084" cy="1189445"/>
            <a:chOff x="0" y="0"/>
            <a:chExt cx="2095920" cy="215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6008" cy="2156460"/>
            </a:xfrm>
            <a:custGeom>
              <a:avLst/>
              <a:gdLst/>
              <a:ahLst/>
              <a:cxnLst/>
              <a:rect l="l" t="t" r="r" b="b"/>
              <a:pathLst>
                <a:path w="2096008" h="2156460">
                  <a:moveTo>
                    <a:pt x="1044194" y="60960"/>
                  </a:moveTo>
                  <a:cubicBezTo>
                    <a:pt x="884174" y="60960"/>
                    <a:pt x="731774" y="99060"/>
                    <a:pt x="594487" y="160020"/>
                  </a:cubicBezTo>
                  <a:cubicBezTo>
                    <a:pt x="198120" y="0"/>
                    <a:pt x="198120" y="0"/>
                    <a:pt x="198120" y="0"/>
                  </a:cubicBezTo>
                  <a:cubicBezTo>
                    <a:pt x="259080" y="419100"/>
                    <a:pt x="259080" y="419100"/>
                    <a:pt x="259080" y="419100"/>
                  </a:cubicBezTo>
                  <a:cubicBezTo>
                    <a:pt x="99060" y="601980"/>
                    <a:pt x="0" y="845820"/>
                    <a:pt x="0" y="1104900"/>
                  </a:cubicBezTo>
                  <a:cubicBezTo>
                    <a:pt x="0" y="1684020"/>
                    <a:pt x="464947" y="2156460"/>
                    <a:pt x="1044194" y="2156460"/>
                  </a:cubicBezTo>
                  <a:cubicBezTo>
                    <a:pt x="1623441" y="2156460"/>
                    <a:pt x="2096008" y="1684020"/>
                    <a:pt x="2096008" y="1104900"/>
                  </a:cubicBezTo>
                  <a:cubicBezTo>
                    <a:pt x="2096008" y="533400"/>
                    <a:pt x="1623441" y="60960"/>
                    <a:pt x="1044194" y="609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9499874" y="4852343"/>
            <a:ext cx="1372379" cy="1205513"/>
            <a:chOff x="0" y="0"/>
            <a:chExt cx="2374560" cy="208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74519" cy="2085848"/>
            </a:xfrm>
            <a:custGeom>
              <a:avLst/>
              <a:gdLst/>
              <a:ahLst/>
              <a:cxnLst/>
              <a:rect l="l" t="t" r="r" b="b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9591025" y="213367"/>
            <a:ext cx="1457360" cy="1280603"/>
            <a:chOff x="0" y="0"/>
            <a:chExt cx="2374560" cy="2086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74519" cy="2086610"/>
            </a:xfrm>
            <a:custGeom>
              <a:avLst/>
              <a:gdLst/>
              <a:ahLst/>
              <a:cxnLst/>
              <a:rect l="l" t="t" r="r" b="b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368842" y="428098"/>
            <a:ext cx="1251988" cy="1279944"/>
            <a:chOff x="0" y="0"/>
            <a:chExt cx="2095920" cy="21427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10" name="TextBox 10"/>
          <p:cNvSpPr txBox="1"/>
          <p:nvPr/>
        </p:nvSpPr>
        <p:spPr>
          <a:xfrm>
            <a:off x="559679" y="685205"/>
            <a:ext cx="855155" cy="6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367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86757" y="497840"/>
            <a:ext cx="893255" cy="644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34241" y="5114926"/>
            <a:ext cx="945771" cy="67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4"/>
              </a:lnSpc>
            </a:pPr>
            <a:r>
              <a:rPr lang="en-US" sz="406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4254" y="5421080"/>
            <a:ext cx="880580" cy="63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37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0829" y="181649"/>
            <a:ext cx="5307355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 Phase Overview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68366" y="1257895"/>
            <a:ext cx="5080796" cy="363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phase concentrated on establishing the fundamental system architecture, developing essential modules, and designing the initial user interface required for effective operation of the NeuroFleetX platform.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4610" y="165742"/>
            <a:ext cx="474868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Backend API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0975" y="1207810"/>
            <a:ext cx="6713813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Robust RESTful APIs were developed to manage authentication, vehicle data, and booking operations.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Well-structured controllers, input validations, and secure communication mechanisms were implemented to ensure reliable data exchange across system modules.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13522" y="5234960"/>
            <a:ext cx="5658877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Core Platform Setup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8366" y="5763280"/>
            <a:ext cx="5941376" cy="417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complete full-stack environment was configured using React for the frontend, Spring Boot for backend services, and MySQL as the database.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Reusable UI components, application routing, and a scalable database schema were designed to support future system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67578" y="5133976"/>
            <a:ext cx="598443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UI &amp; Dashboard Design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48385" y="5843333"/>
            <a:ext cx="7258081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 versions of key modules such as Dashboard, Vehicles, Bookings, and Maintenance pages were developed.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UI was designed to be responsive and user-friendly, featuring a clean pastel-themed layout, smooth transitions, and intuitive navigation for an improved user experience.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21" y="636933"/>
            <a:ext cx="17177026" cy="8995198"/>
            <a:chOff x="0" y="0"/>
            <a:chExt cx="4523990" cy="2369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3990" cy="2369106"/>
            </a:xfrm>
            <a:custGeom>
              <a:avLst/>
              <a:gdLst/>
              <a:ahLst/>
              <a:cxnLst/>
              <a:rect l="l" t="t" r="r" b="b"/>
              <a:pathLst>
                <a:path w="4523990" h="2369106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8620" y="2723961"/>
            <a:ext cx="4126342" cy="6534339"/>
            <a:chOff x="0" y="0"/>
            <a:chExt cx="1926258" cy="3050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6258" cy="3050359"/>
            </a:xfrm>
            <a:custGeom>
              <a:avLst/>
              <a:gdLst/>
              <a:ahLst/>
              <a:cxnLst/>
              <a:rect l="l" t="t" r="r" b="b"/>
              <a:pathLst>
                <a:path w="1926258" h="3050359">
                  <a:moveTo>
                    <a:pt x="43153" y="0"/>
                  </a:moveTo>
                  <a:lnTo>
                    <a:pt x="1883105" y="0"/>
                  </a:lnTo>
                  <a:cubicBezTo>
                    <a:pt x="1906938" y="0"/>
                    <a:pt x="1926258" y="19320"/>
                    <a:pt x="1926258" y="43153"/>
                  </a:cubicBezTo>
                  <a:lnTo>
                    <a:pt x="1926258" y="3007206"/>
                  </a:lnTo>
                  <a:cubicBezTo>
                    <a:pt x="1926258" y="3018651"/>
                    <a:pt x="1921712" y="3029627"/>
                    <a:pt x="1913619" y="3037720"/>
                  </a:cubicBezTo>
                  <a:cubicBezTo>
                    <a:pt x="1905526" y="3045813"/>
                    <a:pt x="1894550" y="3050359"/>
                    <a:pt x="1883105" y="3050359"/>
                  </a:cubicBezTo>
                  <a:lnTo>
                    <a:pt x="43153" y="3050359"/>
                  </a:lnTo>
                  <a:cubicBezTo>
                    <a:pt x="19320" y="3050359"/>
                    <a:pt x="0" y="3031039"/>
                    <a:pt x="0" y="3007206"/>
                  </a:cubicBezTo>
                  <a:lnTo>
                    <a:pt x="0" y="43153"/>
                  </a:lnTo>
                  <a:cubicBezTo>
                    <a:pt x="0" y="19320"/>
                    <a:pt x="19320" y="0"/>
                    <a:pt x="431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26258" cy="3097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123542"/>
            <a:ext cx="3805640" cy="6017730"/>
            <a:chOff x="0" y="0"/>
            <a:chExt cx="1776548" cy="28091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6548" cy="2809196"/>
            </a:xfrm>
            <a:custGeom>
              <a:avLst/>
              <a:gdLst/>
              <a:ahLst/>
              <a:cxnLst/>
              <a:rect l="l" t="t" r="r" b="b"/>
              <a:pathLst>
                <a:path w="1776548" h="2809196">
                  <a:moveTo>
                    <a:pt x="46790" y="0"/>
                  </a:moveTo>
                  <a:lnTo>
                    <a:pt x="1729759" y="0"/>
                  </a:lnTo>
                  <a:cubicBezTo>
                    <a:pt x="1755600" y="0"/>
                    <a:pt x="1776548" y="20948"/>
                    <a:pt x="1776548" y="46790"/>
                  </a:cubicBezTo>
                  <a:lnTo>
                    <a:pt x="1776548" y="2762406"/>
                  </a:lnTo>
                  <a:cubicBezTo>
                    <a:pt x="1776548" y="2788247"/>
                    <a:pt x="1755600" y="2809196"/>
                    <a:pt x="1729759" y="2809196"/>
                  </a:cubicBezTo>
                  <a:lnTo>
                    <a:pt x="46790" y="2809196"/>
                  </a:lnTo>
                  <a:cubicBezTo>
                    <a:pt x="20948" y="2809196"/>
                    <a:pt x="0" y="2788247"/>
                    <a:pt x="0" y="2762406"/>
                  </a:cubicBezTo>
                  <a:lnTo>
                    <a:pt x="0" y="46790"/>
                  </a:lnTo>
                  <a:cubicBezTo>
                    <a:pt x="0" y="20948"/>
                    <a:pt x="20948" y="0"/>
                    <a:pt x="4679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776548" cy="28568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1597" y="1772728"/>
            <a:ext cx="2307646" cy="1902465"/>
            <a:chOff x="0" y="0"/>
            <a:chExt cx="98590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5907" cy="812800"/>
            </a:xfrm>
            <a:custGeom>
              <a:avLst/>
              <a:gdLst/>
              <a:ahLst/>
              <a:cxnLst/>
              <a:rect l="l" t="t" r="r" b="b"/>
              <a:pathLst>
                <a:path w="985907" h="812800">
                  <a:moveTo>
                    <a:pt x="492954" y="0"/>
                  </a:moveTo>
                  <a:cubicBezTo>
                    <a:pt x="220703" y="0"/>
                    <a:pt x="0" y="181951"/>
                    <a:pt x="0" y="406400"/>
                  </a:cubicBezTo>
                  <a:cubicBezTo>
                    <a:pt x="0" y="630849"/>
                    <a:pt x="220703" y="812800"/>
                    <a:pt x="492954" y="812800"/>
                  </a:cubicBezTo>
                  <a:cubicBezTo>
                    <a:pt x="765205" y="812800"/>
                    <a:pt x="985907" y="630849"/>
                    <a:pt x="985907" y="406400"/>
                  </a:cubicBezTo>
                  <a:cubicBezTo>
                    <a:pt x="985907" y="181951"/>
                    <a:pt x="765205" y="0"/>
                    <a:pt x="4929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429" y="28575"/>
              <a:ext cx="80105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1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74962" y="2723961"/>
            <a:ext cx="4353798" cy="6534339"/>
            <a:chOff x="0" y="0"/>
            <a:chExt cx="2032439" cy="30503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2439" cy="3050359"/>
            </a:xfrm>
            <a:custGeom>
              <a:avLst/>
              <a:gdLst/>
              <a:ahLst/>
              <a:cxnLst/>
              <a:rect l="l" t="t" r="r" b="b"/>
              <a:pathLst>
                <a:path w="2032439" h="3050359">
                  <a:moveTo>
                    <a:pt x="40899" y="0"/>
                  </a:moveTo>
                  <a:lnTo>
                    <a:pt x="1991541" y="0"/>
                  </a:lnTo>
                  <a:cubicBezTo>
                    <a:pt x="2014128" y="0"/>
                    <a:pt x="2032439" y="18311"/>
                    <a:pt x="2032439" y="40899"/>
                  </a:cubicBezTo>
                  <a:lnTo>
                    <a:pt x="2032439" y="3009460"/>
                  </a:lnTo>
                  <a:cubicBezTo>
                    <a:pt x="2032439" y="3032048"/>
                    <a:pt x="2014128" y="3050359"/>
                    <a:pt x="1991541" y="3050359"/>
                  </a:cubicBezTo>
                  <a:lnTo>
                    <a:pt x="40899" y="3050359"/>
                  </a:lnTo>
                  <a:cubicBezTo>
                    <a:pt x="18311" y="3050359"/>
                    <a:pt x="0" y="3032048"/>
                    <a:pt x="0" y="3009460"/>
                  </a:cubicBezTo>
                  <a:lnTo>
                    <a:pt x="0" y="40899"/>
                  </a:lnTo>
                  <a:cubicBezTo>
                    <a:pt x="0" y="18311"/>
                    <a:pt x="18311" y="0"/>
                    <a:pt x="408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32439" cy="3097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44561" y="3131890"/>
            <a:ext cx="3913124" cy="6009382"/>
            <a:chOff x="0" y="0"/>
            <a:chExt cx="1826724" cy="28052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6724" cy="2805299"/>
            </a:xfrm>
            <a:custGeom>
              <a:avLst/>
              <a:gdLst/>
              <a:ahLst/>
              <a:cxnLst/>
              <a:rect l="l" t="t" r="r" b="b"/>
              <a:pathLst>
                <a:path w="1826724" h="2805299">
                  <a:moveTo>
                    <a:pt x="45504" y="0"/>
                  </a:moveTo>
                  <a:lnTo>
                    <a:pt x="1781220" y="0"/>
                  </a:lnTo>
                  <a:cubicBezTo>
                    <a:pt x="1793288" y="0"/>
                    <a:pt x="1804862" y="4794"/>
                    <a:pt x="1813396" y="13328"/>
                  </a:cubicBezTo>
                  <a:cubicBezTo>
                    <a:pt x="1821930" y="21862"/>
                    <a:pt x="1826724" y="33436"/>
                    <a:pt x="1826724" y="45504"/>
                  </a:cubicBezTo>
                  <a:lnTo>
                    <a:pt x="1826724" y="2759794"/>
                  </a:lnTo>
                  <a:cubicBezTo>
                    <a:pt x="1826724" y="2771863"/>
                    <a:pt x="1821930" y="2783437"/>
                    <a:pt x="1813396" y="2791971"/>
                  </a:cubicBezTo>
                  <a:cubicBezTo>
                    <a:pt x="1804862" y="2800504"/>
                    <a:pt x="1793288" y="2805299"/>
                    <a:pt x="1781220" y="2805299"/>
                  </a:cubicBezTo>
                  <a:lnTo>
                    <a:pt x="45504" y="2805299"/>
                  </a:lnTo>
                  <a:cubicBezTo>
                    <a:pt x="33436" y="2805299"/>
                    <a:pt x="21862" y="2800504"/>
                    <a:pt x="13328" y="2791971"/>
                  </a:cubicBezTo>
                  <a:cubicBezTo>
                    <a:pt x="4794" y="2783437"/>
                    <a:pt x="0" y="2771863"/>
                    <a:pt x="0" y="2759794"/>
                  </a:cubicBezTo>
                  <a:lnTo>
                    <a:pt x="0" y="45504"/>
                  </a:lnTo>
                  <a:cubicBezTo>
                    <a:pt x="0" y="33436"/>
                    <a:pt x="4794" y="21862"/>
                    <a:pt x="13328" y="13328"/>
                  </a:cubicBezTo>
                  <a:cubicBezTo>
                    <a:pt x="21862" y="4794"/>
                    <a:pt x="33436" y="0"/>
                    <a:pt x="4550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826724" cy="2852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10588" y="1772728"/>
            <a:ext cx="2218047" cy="1902465"/>
            <a:chOff x="0" y="0"/>
            <a:chExt cx="947628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47628" cy="812800"/>
            </a:xfrm>
            <a:custGeom>
              <a:avLst/>
              <a:gdLst/>
              <a:ahLst/>
              <a:cxnLst/>
              <a:rect l="l" t="t" r="r" b="b"/>
              <a:pathLst>
                <a:path w="947628" h="812800">
                  <a:moveTo>
                    <a:pt x="473814" y="0"/>
                  </a:moveTo>
                  <a:cubicBezTo>
                    <a:pt x="212134" y="0"/>
                    <a:pt x="0" y="181951"/>
                    <a:pt x="0" y="406400"/>
                  </a:cubicBezTo>
                  <a:cubicBezTo>
                    <a:pt x="0" y="630849"/>
                    <a:pt x="212134" y="812800"/>
                    <a:pt x="473814" y="812800"/>
                  </a:cubicBezTo>
                  <a:cubicBezTo>
                    <a:pt x="735494" y="812800"/>
                    <a:pt x="947628" y="630849"/>
                    <a:pt x="947628" y="406400"/>
                  </a:cubicBezTo>
                  <a:cubicBezTo>
                    <a:pt x="947628" y="181951"/>
                    <a:pt x="735494" y="0"/>
                    <a:pt x="473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840" y="28575"/>
              <a:ext cx="769947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2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00210" y="2723961"/>
            <a:ext cx="3923176" cy="6417311"/>
            <a:chOff x="0" y="0"/>
            <a:chExt cx="1831416" cy="29957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1417" cy="2995728"/>
            </a:xfrm>
            <a:custGeom>
              <a:avLst/>
              <a:gdLst/>
              <a:ahLst/>
              <a:cxnLst/>
              <a:rect l="l" t="t" r="r" b="b"/>
              <a:pathLst>
                <a:path w="1831417" h="2995728">
                  <a:moveTo>
                    <a:pt x="45388" y="0"/>
                  </a:moveTo>
                  <a:lnTo>
                    <a:pt x="1786029" y="0"/>
                  </a:lnTo>
                  <a:cubicBezTo>
                    <a:pt x="1811096" y="0"/>
                    <a:pt x="1831417" y="20321"/>
                    <a:pt x="1831417" y="45388"/>
                  </a:cubicBezTo>
                  <a:lnTo>
                    <a:pt x="1831417" y="2950340"/>
                  </a:lnTo>
                  <a:cubicBezTo>
                    <a:pt x="1831417" y="2962378"/>
                    <a:pt x="1826635" y="2973922"/>
                    <a:pt x="1818123" y="2982434"/>
                  </a:cubicBezTo>
                  <a:cubicBezTo>
                    <a:pt x="1809611" y="2990946"/>
                    <a:pt x="1798066" y="2995728"/>
                    <a:pt x="1786029" y="2995728"/>
                  </a:cubicBezTo>
                  <a:lnTo>
                    <a:pt x="45388" y="2995728"/>
                  </a:lnTo>
                  <a:cubicBezTo>
                    <a:pt x="20321" y="2995728"/>
                    <a:pt x="0" y="2975407"/>
                    <a:pt x="0" y="2950340"/>
                  </a:cubicBezTo>
                  <a:lnTo>
                    <a:pt x="0" y="45388"/>
                  </a:lnTo>
                  <a:cubicBezTo>
                    <a:pt x="0" y="20321"/>
                    <a:pt x="20321" y="0"/>
                    <a:pt x="453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1416" cy="3043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00235" y="2929049"/>
            <a:ext cx="3431581" cy="6088607"/>
            <a:chOff x="0" y="0"/>
            <a:chExt cx="1601930" cy="28422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01930" cy="2842283"/>
            </a:xfrm>
            <a:custGeom>
              <a:avLst/>
              <a:gdLst/>
              <a:ahLst/>
              <a:cxnLst/>
              <a:rect l="l" t="t" r="r" b="b"/>
              <a:pathLst>
                <a:path w="1601930" h="2842283">
                  <a:moveTo>
                    <a:pt x="51890" y="0"/>
                  </a:moveTo>
                  <a:lnTo>
                    <a:pt x="1550040" y="0"/>
                  </a:lnTo>
                  <a:cubicBezTo>
                    <a:pt x="1563802" y="0"/>
                    <a:pt x="1577001" y="5467"/>
                    <a:pt x="1586732" y="15198"/>
                  </a:cubicBezTo>
                  <a:cubicBezTo>
                    <a:pt x="1596463" y="24929"/>
                    <a:pt x="1601930" y="38128"/>
                    <a:pt x="1601930" y="51890"/>
                  </a:cubicBezTo>
                  <a:lnTo>
                    <a:pt x="1601930" y="2790393"/>
                  </a:lnTo>
                  <a:cubicBezTo>
                    <a:pt x="1601930" y="2819051"/>
                    <a:pt x="1578698" y="2842283"/>
                    <a:pt x="1550040" y="2842283"/>
                  </a:cubicBezTo>
                  <a:lnTo>
                    <a:pt x="51890" y="2842283"/>
                  </a:lnTo>
                  <a:cubicBezTo>
                    <a:pt x="38128" y="2842283"/>
                    <a:pt x="24929" y="2836816"/>
                    <a:pt x="15198" y="2827084"/>
                  </a:cubicBezTo>
                  <a:cubicBezTo>
                    <a:pt x="5467" y="2817353"/>
                    <a:pt x="0" y="2804155"/>
                    <a:pt x="0" y="2790393"/>
                  </a:cubicBezTo>
                  <a:lnTo>
                    <a:pt x="0" y="51890"/>
                  </a:lnTo>
                  <a:cubicBezTo>
                    <a:pt x="0" y="38128"/>
                    <a:pt x="5467" y="24929"/>
                    <a:pt x="15198" y="15198"/>
                  </a:cubicBezTo>
                  <a:cubicBezTo>
                    <a:pt x="24929" y="5467"/>
                    <a:pt x="38128" y="0"/>
                    <a:pt x="5189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601930" cy="28899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05060" y="1772728"/>
            <a:ext cx="2155557" cy="1902465"/>
            <a:chOff x="0" y="0"/>
            <a:chExt cx="92093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0930" cy="812800"/>
            </a:xfrm>
            <a:custGeom>
              <a:avLst/>
              <a:gdLst/>
              <a:ahLst/>
              <a:cxnLst/>
              <a:rect l="l" t="t" r="r" b="b"/>
              <a:pathLst>
                <a:path w="920930" h="812800">
                  <a:moveTo>
                    <a:pt x="460465" y="0"/>
                  </a:moveTo>
                  <a:cubicBezTo>
                    <a:pt x="206157" y="0"/>
                    <a:pt x="0" y="181951"/>
                    <a:pt x="0" y="406400"/>
                  </a:cubicBezTo>
                  <a:cubicBezTo>
                    <a:pt x="0" y="630849"/>
                    <a:pt x="206157" y="812800"/>
                    <a:pt x="460465" y="812800"/>
                  </a:cubicBezTo>
                  <a:cubicBezTo>
                    <a:pt x="714773" y="812800"/>
                    <a:pt x="920930" y="630849"/>
                    <a:pt x="920930" y="406400"/>
                  </a:cubicBezTo>
                  <a:cubicBezTo>
                    <a:pt x="920930" y="181951"/>
                    <a:pt x="714773" y="0"/>
                    <a:pt x="4604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337" y="28575"/>
              <a:ext cx="748256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566261" y="2723961"/>
            <a:ext cx="3923849" cy="6417311"/>
            <a:chOff x="0" y="0"/>
            <a:chExt cx="1831731" cy="29957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31731" cy="2995728"/>
            </a:xfrm>
            <a:custGeom>
              <a:avLst/>
              <a:gdLst/>
              <a:ahLst/>
              <a:cxnLst/>
              <a:rect l="l" t="t" r="r" b="b"/>
              <a:pathLst>
                <a:path w="1831731" h="2995728">
                  <a:moveTo>
                    <a:pt x="45380" y="0"/>
                  </a:moveTo>
                  <a:lnTo>
                    <a:pt x="1786351" y="0"/>
                  </a:lnTo>
                  <a:cubicBezTo>
                    <a:pt x="1798386" y="0"/>
                    <a:pt x="1809929" y="4781"/>
                    <a:pt x="1818439" y="13291"/>
                  </a:cubicBezTo>
                  <a:cubicBezTo>
                    <a:pt x="1826950" y="21802"/>
                    <a:pt x="1831731" y="33344"/>
                    <a:pt x="1831731" y="45380"/>
                  </a:cubicBezTo>
                  <a:lnTo>
                    <a:pt x="1831731" y="2950348"/>
                  </a:lnTo>
                  <a:cubicBezTo>
                    <a:pt x="1831731" y="2975411"/>
                    <a:pt x="1811413" y="2995728"/>
                    <a:pt x="1786351" y="2995728"/>
                  </a:cubicBezTo>
                  <a:lnTo>
                    <a:pt x="45380" y="2995728"/>
                  </a:lnTo>
                  <a:cubicBezTo>
                    <a:pt x="20317" y="2995728"/>
                    <a:pt x="0" y="2975411"/>
                    <a:pt x="0" y="2950348"/>
                  </a:cubicBezTo>
                  <a:lnTo>
                    <a:pt x="0" y="45380"/>
                  </a:lnTo>
                  <a:cubicBezTo>
                    <a:pt x="0" y="33344"/>
                    <a:pt x="4781" y="21802"/>
                    <a:pt x="13291" y="13291"/>
                  </a:cubicBezTo>
                  <a:cubicBezTo>
                    <a:pt x="21802" y="4781"/>
                    <a:pt x="33344" y="0"/>
                    <a:pt x="453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831731" cy="3043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610229" y="2808819"/>
            <a:ext cx="3879882" cy="6208837"/>
            <a:chOff x="0" y="0"/>
            <a:chExt cx="1811206" cy="28984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11206" cy="2898408"/>
            </a:xfrm>
            <a:custGeom>
              <a:avLst/>
              <a:gdLst/>
              <a:ahLst/>
              <a:cxnLst/>
              <a:rect l="l" t="t" r="r" b="b"/>
              <a:pathLst>
                <a:path w="1811206" h="2898408">
                  <a:moveTo>
                    <a:pt x="45894" y="0"/>
                  </a:moveTo>
                  <a:lnTo>
                    <a:pt x="1765311" y="0"/>
                  </a:lnTo>
                  <a:cubicBezTo>
                    <a:pt x="1790658" y="0"/>
                    <a:pt x="1811206" y="20548"/>
                    <a:pt x="1811206" y="45894"/>
                  </a:cubicBezTo>
                  <a:lnTo>
                    <a:pt x="1811206" y="2852514"/>
                  </a:lnTo>
                  <a:cubicBezTo>
                    <a:pt x="1811206" y="2877860"/>
                    <a:pt x="1790658" y="2898408"/>
                    <a:pt x="1765311" y="2898408"/>
                  </a:cubicBezTo>
                  <a:lnTo>
                    <a:pt x="45894" y="2898408"/>
                  </a:lnTo>
                  <a:cubicBezTo>
                    <a:pt x="20548" y="2898408"/>
                    <a:pt x="0" y="2877860"/>
                    <a:pt x="0" y="2852514"/>
                  </a:cubicBezTo>
                  <a:lnTo>
                    <a:pt x="0" y="45894"/>
                  </a:lnTo>
                  <a:cubicBezTo>
                    <a:pt x="0" y="20548"/>
                    <a:pt x="20548" y="0"/>
                    <a:pt x="4589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811206" cy="2946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356836" y="1772728"/>
            <a:ext cx="2136690" cy="1902465"/>
            <a:chOff x="0" y="0"/>
            <a:chExt cx="912869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2869" cy="812800"/>
            </a:xfrm>
            <a:custGeom>
              <a:avLst/>
              <a:gdLst/>
              <a:ahLst/>
              <a:cxnLst/>
              <a:rect l="l" t="t" r="r" b="b"/>
              <a:pathLst>
                <a:path w="912869" h="812800">
                  <a:moveTo>
                    <a:pt x="456435" y="0"/>
                  </a:moveTo>
                  <a:cubicBezTo>
                    <a:pt x="204353" y="0"/>
                    <a:pt x="0" y="181951"/>
                    <a:pt x="0" y="406400"/>
                  </a:cubicBezTo>
                  <a:cubicBezTo>
                    <a:pt x="0" y="630849"/>
                    <a:pt x="204353" y="812800"/>
                    <a:pt x="456435" y="812800"/>
                  </a:cubicBezTo>
                  <a:cubicBezTo>
                    <a:pt x="708517" y="812800"/>
                    <a:pt x="912869" y="630849"/>
                    <a:pt x="912869" y="406400"/>
                  </a:cubicBezTo>
                  <a:cubicBezTo>
                    <a:pt x="912869" y="181951"/>
                    <a:pt x="708517" y="0"/>
                    <a:pt x="4564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82" y="28575"/>
              <a:ext cx="741706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4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473087" y="5625431"/>
            <a:ext cx="2877407" cy="314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Acqui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red foundational knowledge in Java, React, and Spring Boot.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Built the initial login interface, practiced API development, and completed the project environment setup.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3087" y="4981033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sz="2081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oundation Setup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35372" y="5755139"/>
            <a:ext cx="3432977" cy="288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r>
              <a:rPr lang="en-US" sz="208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Succ</a:t>
            </a:r>
            <a:r>
              <a:rPr lang="en-US" sz="2080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essfully implemented authentication and integrated core modules such as Dashboard, Vehicles, and Bookings with backend services.</a:t>
            </a:r>
          </a:p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endParaRPr lang="en-US" sz="2080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496006" y="4772926"/>
            <a:ext cx="3466160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Module Development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8807" y="5456303"/>
            <a:ext cx="2877407" cy="38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Devel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oped role-based dashboards for Admin, Employee, and Customer users.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Added KPIs, charts, filters, data tables, and reusable UI components to enhance system functionality.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endParaRPr lang="en-US" sz="1992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023094" y="4617678"/>
            <a:ext cx="2877407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Enhancements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356836" y="5625431"/>
            <a:ext cx="2877407" cy="314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Enhanc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ed the platform with live tracking improvements, booking validations, and refined UI/UX for better usability and system performance.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endParaRPr lang="en-US" sz="1992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4356836" y="4644107"/>
            <a:ext cx="2877407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Analytics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895" y="2562321"/>
            <a:ext cx="9554679" cy="4936941"/>
            <a:chOff x="0" y="0"/>
            <a:chExt cx="3011972" cy="1556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1972" cy="1556298"/>
            </a:xfrm>
            <a:custGeom>
              <a:avLst/>
              <a:gdLst/>
              <a:ahLst/>
              <a:cxnLst/>
              <a:rect l="l" t="t" r="r" b="b"/>
              <a:pathLst>
                <a:path w="3011972" h="1556298">
                  <a:moveTo>
                    <a:pt x="0" y="0"/>
                  </a:moveTo>
                  <a:lnTo>
                    <a:pt x="3011972" y="0"/>
                  </a:lnTo>
                  <a:lnTo>
                    <a:pt x="3011972" y="1556298"/>
                  </a:lnTo>
                  <a:lnTo>
                    <a:pt x="0" y="1556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1972" cy="1603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584415" y="2388171"/>
            <a:ext cx="1479098" cy="1516702"/>
          </a:xfrm>
          <a:custGeom>
            <a:avLst/>
            <a:gdLst/>
            <a:ahLst/>
            <a:cxnLst/>
            <a:rect l="l" t="t" r="r" b="b"/>
            <a:pathLst>
              <a:path w="1479098" h="1516702">
                <a:moveTo>
                  <a:pt x="0" y="0"/>
                </a:moveTo>
                <a:lnTo>
                  <a:pt x="1479098" y="0"/>
                </a:lnTo>
                <a:lnTo>
                  <a:pt x="1479098" y="1516702"/>
                </a:lnTo>
                <a:lnTo>
                  <a:pt x="0" y="1516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62413" y="3904873"/>
            <a:ext cx="2923102" cy="2944284"/>
          </a:xfrm>
          <a:custGeom>
            <a:avLst/>
            <a:gdLst/>
            <a:ahLst/>
            <a:cxnLst/>
            <a:rect l="l" t="t" r="r" b="b"/>
            <a:pathLst>
              <a:path w="2923102" h="2944284">
                <a:moveTo>
                  <a:pt x="0" y="0"/>
                </a:moveTo>
                <a:lnTo>
                  <a:pt x="2923102" y="0"/>
                </a:lnTo>
                <a:lnTo>
                  <a:pt x="2923102" y="2944284"/>
                </a:lnTo>
                <a:lnTo>
                  <a:pt x="0" y="2944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23414" y="6996810"/>
            <a:ext cx="2201100" cy="2071624"/>
          </a:xfrm>
          <a:custGeom>
            <a:avLst/>
            <a:gdLst/>
            <a:ahLst/>
            <a:cxnLst/>
            <a:rect l="l" t="t" r="r" b="b"/>
            <a:pathLst>
              <a:path w="2201100" h="2071624">
                <a:moveTo>
                  <a:pt x="0" y="0"/>
                </a:moveTo>
                <a:lnTo>
                  <a:pt x="2201100" y="0"/>
                </a:lnTo>
                <a:lnTo>
                  <a:pt x="2201100" y="2071624"/>
                </a:lnTo>
                <a:lnTo>
                  <a:pt x="0" y="2071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96925" y="714283"/>
            <a:ext cx="4549531" cy="202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endParaRPr lang="en-US" sz="57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24514" y="2309460"/>
            <a:ext cx="9618347" cy="180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                       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React,HTML,CSS,Tailwind</a:t>
            </a:r>
            <a:r>
              <a:rPr lang="en-US" sz="33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/Bootstrap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85515" y="4527710"/>
            <a:ext cx="31384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45540" y="5256208"/>
            <a:ext cx="9054247" cy="1289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47"/>
              </a:lnSpc>
              <a:spcBef>
                <a:spcPct val="0"/>
              </a:spcBef>
            </a:pPr>
            <a:r>
              <a:rPr lang="en-US" sz="374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Java ,Spring Boot for APIs</a:t>
            </a:r>
          </a:p>
          <a:p>
            <a:pPr algn="ctr">
              <a:lnSpc>
                <a:spcPts val="5247"/>
              </a:lnSpc>
              <a:spcBef>
                <a:spcPct val="0"/>
              </a:spcBef>
            </a:pPr>
            <a:endParaRPr lang="en-US" sz="374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635264" y="7422438"/>
            <a:ext cx="3938884" cy="59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4602" y="8184515"/>
            <a:ext cx="2801888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MySql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D7522-89E9-4548-C9E8-60833A4DAE81}"/>
              </a:ext>
            </a:extLst>
          </p:cNvPr>
          <p:cNvSpPr txBox="1"/>
          <p:nvPr/>
        </p:nvSpPr>
        <p:spPr>
          <a:xfrm>
            <a:off x="6280706" y="2342296"/>
            <a:ext cx="3268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endParaRPr lang="en-I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8481" y="221395"/>
            <a:ext cx="10514420" cy="4705203"/>
          </a:xfrm>
          <a:custGeom>
            <a:avLst/>
            <a:gdLst/>
            <a:ahLst/>
            <a:cxnLst/>
            <a:rect l="l" t="t" r="r" b="b"/>
            <a:pathLst>
              <a:path w="10514420" h="4705203">
                <a:moveTo>
                  <a:pt x="0" y="0"/>
                </a:moveTo>
                <a:lnTo>
                  <a:pt x="10514420" y="0"/>
                </a:lnTo>
                <a:lnTo>
                  <a:pt x="10514420" y="4705203"/>
                </a:lnTo>
                <a:lnTo>
                  <a:pt x="0" y="470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35358" y="4926598"/>
            <a:ext cx="10952642" cy="5065597"/>
          </a:xfrm>
          <a:custGeom>
            <a:avLst/>
            <a:gdLst/>
            <a:ahLst/>
            <a:cxnLst/>
            <a:rect l="l" t="t" r="r" b="b"/>
            <a:pathLst>
              <a:path w="10952642" h="5065597">
                <a:moveTo>
                  <a:pt x="0" y="0"/>
                </a:moveTo>
                <a:lnTo>
                  <a:pt x="10952642" y="0"/>
                </a:lnTo>
                <a:lnTo>
                  <a:pt x="10952642" y="5065597"/>
                </a:lnTo>
                <a:lnTo>
                  <a:pt x="0" y="5065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04639" y="1455647"/>
            <a:ext cx="5854661" cy="167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7"/>
              </a:lnSpc>
              <a:spcBef>
                <a:spcPct val="0"/>
              </a:spcBef>
            </a:pPr>
            <a:r>
              <a:rPr lang="en-US" sz="4848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 Dashboard</a:t>
            </a:r>
          </a:p>
          <a:p>
            <a:pPr algn="ctr">
              <a:lnSpc>
                <a:spcPts val="6787"/>
              </a:lnSpc>
              <a:spcBef>
                <a:spcPct val="0"/>
              </a:spcBef>
            </a:pPr>
            <a:endParaRPr lang="en-US" sz="4848" b="1">
              <a:solidFill>
                <a:srgbClr val="B100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34104" y="98027"/>
            <a:ext cx="9633361" cy="5045473"/>
          </a:xfrm>
          <a:custGeom>
            <a:avLst/>
            <a:gdLst/>
            <a:ahLst/>
            <a:cxnLst/>
            <a:rect l="l" t="t" r="r" b="b"/>
            <a:pathLst>
              <a:path w="9633361" h="5045473">
                <a:moveTo>
                  <a:pt x="0" y="0"/>
                </a:moveTo>
                <a:lnTo>
                  <a:pt x="9633361" y="0"/>
                </a:lnTo>
                <a:lnTo>
                  <a:pt x="9633361" y="5045473"/>
                </a:lnTo>
                <a:lnTo>
                  <a:pt x="0" y="5045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1925" y="5143500"/>
            <a:ext cx="9820525" cy="5143500"/>
          </a:xfrm>
          <a:custGeom>
            <a:avLst/>
            <a:gdLst/>
            <a:ahLst/>
            <a:cxnLst/>
            <a:rect l="l" t="t" r="r" b="b"/>
            <a:pathLst>
              <a:path w="9820525" h="5143500">
                <a:moveTo>
                  <a:pt x="0" y="0"/>
                </a:moveTo>
                <a:lnTo>
                  <a:pt x="9820525" y="0"/>
                </a:lnTo>
                <a:lnTo>
                  <a:pt x="9820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6351" y="2554089"/>
            <a:ext cx="5253252" cy="6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  <a:spcBef>
                <a:spcPct val="0"/>
              </a:spcBef>
            </a:pPr>
            <a:r>
              <a:rPr lang="en-US" sz="3712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30819" y="6671042"/>
            <a:ext cx="4581507" cy="67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5"/>
              </a:lnSpc>
              <a:spcBef>
                <a:spcPct val="0"/>
              </a:spcBef>
            </a:pPr>
            <a:r>
              <a:rPr lang="en-US" sz="3946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32462" y="2504706"/>
            <a:ext cx="14099548" cy="718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NeuroFleetX represents a smart, scalable, and future-ready fleet management solution built on a strong technical foundation.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platform integrates role-based dashboards, real-time tracking, predictive analytics, and intelligent booking systems to ensure efficient and reliable fleet operations.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development will focus on deeper AI integration, expanded data intelligence, enhanced automation, and improved user experience.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long-term vision is to build a connected, sustainable, and high-performance urban mobility ecosystem through continuous innovation and intelligent technologies.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53306" y="952500"/>
            <a:ext cx="4800694" cy="662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5436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32A0283D-FBCC-5853-65FB-C69454E23AC4}"/>
              </a:ext>
            </a:extLst>
          </p:cNvPr>
          <p:cNvGrpSpPr/>
          <p:nvPr/>
        </p:nvGrpSpPr>
        <p:grpSpPr>
          <a:xfrm>
            <a:off x="533400" y="163039"/>
            <a:ext cx="1578921" cy="1578921"/>
            <a:chOff x="0" y="0"/>
            <a:chExt cx="812800" cy="812800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44F70975-A043-3D19-E4DB-5461C816A8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315E22CF-080F-0CE6-4D8F-90D0FEF6E17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F3EBCB9-737A-F11B-654E-C823DC871DF4}"/>
              </a:ext>
            </a:extLst>
          </p:cNvPr>
          <p:cNvGrpSpPr/>
          <p:nvPr/>
        </p:nvGrpSpPr>
        <p:grpSpPr>
          <a:xfrm>
            <a:off x="2090413" y="1244803"/>
            <a:ext cx="805188" cy="850697"/>
            <a:chOff x="0" y="0"/>
            <a:chExt cx="812800" cy="8128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5F662D-270B-12C4-EF87-0031F23684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1BDFAC-CE7C-B7FD-93B7-11C8AECD1A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913782" y="4354503"/>
            <a:ext cx="8460437" cy="157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622</Words>
  <Application>Microsoft Office PowerPoint</Application>
  <PresentationFormat>Custom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Calibri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cp:lastModifiedBy>Vaishnavi Ambhore</cp:lastModifiedBy>
  <cp:revision>2</cp:revision>
  <dcterms:created xsi:type="dcterms:W3CDTF">2006-08-16T00:00:00Z</dcterms:created>
  <dcterms:modified xsi:type="dcterms:W3CDTF">2025-12-18T13:44:05Z</dcterms:modified>
  <dc:identifier>DAG723F8cHU</dc:identifier>
</cp:coreProperties>
</file>